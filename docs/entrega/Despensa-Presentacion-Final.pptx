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e517c91aec4672" /><Relationship Type="http://schemas.openxmlformats.org/officeDocument/2006/relationships/extended-properties" Target="/docProps/app.xml" Id="Rbb619027aa79432f" /><Relationship Type="http://schemas.openxmlformats.org/officeDocument/2006/relationships/officeDocument" Target="/ppt/presentation.xml" Id="Rafd559a8edcc44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cf98be3e1045e8"/>
  </p:sldMasterIdLst>
  <p:notesMasterIdLst>
    <p:notesMasterId xmlns:r="http://schemas.openxmlformats.org/officeDocument/2006/relationships" r:id="R42e7f0abf5914e18"/>
  </p:notesMasterIdLst>
  <p:sldIdLst>
    <p:sldId xmlns:r="http://schemas.openxmlformats.org/officeDocument/2006/relationships" id="256" r:id="R62db41927ffe4b16"/>
    <p:sldId xmlns:r="http://schemas.openxmlformats.org/officeDocument/2006/relationships" id="257" r:id="Re3d592b1479f4e8c"/>
    <p:sldId xmlns:r="http://schemas.openxmlformats.org/officeDocument/2006/relationships" id="258" r:id="Rf68ed1b386f64731"/>
    <p:sldId xmlns:r="http://schemas.openxmlformats.org/officeDocument/2006/relationships" id="259" r:id="R187a1269d5014d02"/>
    <p:sldId xmlns:r="http://schemas.openxmlformats.org/officeDocument/2006/relationships" id="260" r:id="Rc606f9dd1fce431b"/>
    <p:sldId xmlns:r="http://schemas.openxmlformats.org/officeDocument/2006/relationships" id="261" r:id="R9abe759b670849ee"/>
    <p:sldId xmlns:r="http://schemas.openxmlformats.org/officeDocument/2006/relationships" id="262" r:id="R234643b64e8d44dc"/>
    <p:sldId xmlns:r="http://schemas.openxmlformats.org/officeDocument/2006/relationships" id="263" r:id="Rb101a5a27b6c4a14"/>
    <p:sldId xmlns:r="http://schemas.openxmlformats.org/officeDocument/2006/relationships" id="264" r:id="Rb6bb8e6f09a241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375484f9f9468d" /><Relationship Type="http://schemas.openxmlformats.org/officeDocument/2006/relationships/slideMaster" Target="/ppt/slideMasters/slideMaster1.xml" Id="R8acf98be3e1045e8" /><Relationship Type="http://schemas.openxmlformats.org/officeDocument/2006/relationships/notesMaster" Target="/ppt/notesMasters/notesMaster1.xml" Id="R42e7f0abf5914e18" /><Relationship Type="http://schemas.openxmlformats.org/officeDocument/2006/relationships/presProps" Target="/ppt/presProps.xml" Id="Rf2d75f86041c4246" /><Relationship Type="http://schemas.openxmlformats.org/officeDocument/2006/relationships/tableStyles" Target="/ppt/tableStyles.xml" Id="Rb1fc41b821bb487a" /><Relationship Type="http://schemas.openxmlformats.org/officeDocument/2006/relationships/slide" Target="/ppt/slides/slide1.xml" Id="R62db41927ffe4b16" /><Relationship Type="http://schemas.openxmlformats.org/officeDocument/2006/relationships/slide" Target="/ppt/slides/slide2.xml" Id="Re3d592b1479f4e8c" /><Relationship Type="http://schemas.openxmlformats.org/officeDocument/2006/relationships/slide" Target="/ppt/slides/slide3.xml" Id="Rf68ed1b386f64731" /><Relationship Type="http://schemas.openxmlformats.org/officeDocument/2006/relationships/slide" Target="/ppt/slides/slide4.xml" Id="R187a1269d5014d02" /><Relationship Type="http://schemas.openxmlformats.org/officeDocument/2006/relationships/slide" Target="/ppt/slides/slide5.xml" Id="Rc606f9dd1fce431b" /><Relationship Type="http://schemas.openxmlformats.org/officeDocument/2006/relationships/slide" Target="/ppt/slides/slide6.xml" Id="R9abe759b670849ee" /><Relationship Type="http://schemas.openxmlformats.org/officeDocument/2006/relationships/slide" Target="/ppt/slides/slide7.xml" Id="R234643b64e8d44dc" /><Relationship Type="http://schemas.openxmlformats.org/officeDocument/2006/relationships/slide" Target="/ppt/slides/slide8.xml" Id="Rb101a5a27b6c4a14" /><Relationship Type="http://schemas.openxmlformats.org/officeDocument/2006/relationships/slide" Target="/ppt/slides/slide9.xml" Id="Rb6bb8e6f09a241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091076f05748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f6b345fe354eb9" /><Relationship Type="http://schemas.openxmlformats.org/officeDocument/2006/relationships/notesMaster" Target="/ppt/notesMasters/notesMaster1.xml" Id="R6487cfe5d14041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e01816b744164" /><Relationship Type="http://schemas.openxmlformats.org/officeDocument/2006/relationships/notesMaster" Target="/ppt/notesMasters/notesMaster1.xml" Id="R04389e8a0bac48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b0ae8b0d7543e0" /><Relationship Type="http://schemas.openxmlformats.org/officeDocument/2006/relationships/notesMaster" Target="/ppt/notesMasters/notesMaster1.xml" Id="R76f31d10888847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c36dcd5bc64277" /><Relationship Type="http://schemas.openxmlformats.org/officeDocument/2006/relationships/notesMaster" Target="/ppt/notesMasters/notesMaster1.xml" Id="Re487399a5cb447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f56077c50e4098" /><Relationship Type="http://schemas.openxmlformats.org/officeDocument/2006/relationships/notesMaster" Target="/ppt/notesMasters/notesMaster1.xml" Id="Rf0e3e37e73374c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d3fa0139374308" /><Relationship Type="http://schemas.openxmlformats.org/officeDocument/2006/relationships/notesMaster" Target="/ppt/notesMasters/notesMaster1.xml" Id="Ra0068c2498d84c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31b467badd4257" /><Relationship Type="http://schemas.openxmlformats.org/officeDocument/2006/relationships/notesMaster" Target="/ppt/notesMasters/notesMaster1.xml" Id="Rbdd2b780ade641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5e1930796d435d" /><Relationship Type="http://schemas.openxmlformats.org/officeDocument/2006/relationships/notesMaster" Target="/ppt/notesMasters/notesMaster1.xml" Id="Rcc147270828c42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a90971f1bd4d71" /><Relationship Type="http://schemas.openxmlformats.org/officeDocument/2006/relationships/notesMaster" Target="/ppt/notesMasters/notesMaster1.xml" Id="Ra3db3cb73f4544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446a93358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245f2e66384265" /><Relationship Type="http://schemas.openxmlformats.org/officeDocument/2006/relationships/slideLayout" Target="/ppt/slideLayouts/slideLayout1.xml" Id="R8d7d52ad97ca4b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d52ad97ca4b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9db9fd2d147f6" /><Relationship Type="http://schemas.openxmlformats.org/officeDocument/2006/relationships/image" Target="/ppt/media/image.png" Id="R5fdb0ebee2694cb5" /><Relationship Type="http://schemas.openxmlformats.org/officeDocument/2006/relationships/notesSlide" Target="/ppt/notesSlides/notesSlide1.xml" Id="R0d149f4e0ba0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fd737500149ea" /><Relationship Type="http://schemas.openxmlformats.org/officeDocument/2006/relationships/notesSlide" Target="/ppt/notesSlides/notesSlide2.xml" Id="R53c99af49d0b4e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0df941a8e4d47" /><Relationship Type="http://schemas.openxmlformats.org/officeDocument/2006/relationships/notesSlide" Target="/ppt/notesSlides/notesSlide3.xml" Id="R7e84c821bac14f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b17eb9c98400e" /><Relationship Type="http://schemas.openxmlformats.org/officeDocument/2006/relationships/image" Target="/ppt/media/image2.png" Id="Rf9fbcfb9265d47d7" /><Relationship Type="http://schemas.openxmlformats.org/officeDocument/2006/relationships/notesSlide" Target="/ppt/notesSlides/notesSlide4.xml" Id="Rde7acedf55f14e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2c98f4f3b4023" /><Relationship Type="http://schemas.openxmlformats.org/officeDocument/2006/relationships/notesSlide" Target="/ppt/notesSlides/notesSlide5.xml" Id="R065c2ec6e39a48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2849233b14b89" /><Relationship Type="http://schemas.openxmlformats.org/officeDocument/2006/relationships/image" Target="/ppt/media/image3.png" Id="R6ed0750f4c404aa9" /><Relationship Type="http://schemas.openxmlformats.org/officeDocument/2006/relationships/image" Target="/ppt/media/image4.png" Id="R0a7f095f8e3e4a13" /><Relationship Type="http://schemas.openxmlformats.org/officeDocument/2006/relationships/notesSlide" Target="/ppt/notesSlides/notesSlide6.xml" Id="Rc175cdcc64a240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77d49c15a4d20" /><Relationship Type="http://schemas.openxmlformats.org/officeDocument/2006/relationships/notesSlide" Target="/ppt/notesSlides/notesSlide7.xml" Id="R8b7fe5f9dad049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ba7c23d124348" /><Relationship Type="http://schemas.openxmlformats.org/officeDocument/2006/relationships/notesSlide" Target="/ppt/notesSlides/notesSlide8.xml" Id="R7a634ad9c89a4f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325d0c9804796" /><Relationship Type="http://schemas.openxmlformats.org/officeDocument/2006/relationships/notesSlide" Target="/ppt/notesSlides/notesSlide9.xml" Id="Rd508a52e8c8545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ABFA3-7805-46B0-AB27-7BDA9569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B55"/>
          </a:solidFill>
          <a:ln xmlns:a="http://schemas.openxmlformats.org/drawingml/2006/main" w="0">
            <a:noFill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b0ebee2694cb5"/>
          <a:stretch xmlns:a="http://schemas.openxmlformats.org/drawingml/2006/main"/>
        </p:blipFill>
        <p:spPr>
          <a:xfrm xmlns:a="http://schemas.openxmlformats.org/drawingml/2006/main">
            <a:off x="7429500" y="2062163"/>
            <a:ext cx="3714750" cy="1114425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6DE74-F38B-4D6D-9178-4722456D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345"/>
                </a:solidFill>
              </a:defRPr>
            </a:pPr>
            <a:r>
              <a:rPr sz="1200" b="1">
                <a:solidFill>
                  <a:srgbClr val="B86345"/>
                </a:solidFill>
              </a:rPr>
              <a:t>DESPENSA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3197D-A896-490E-8842-D8030CBF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446B55"/>
                </a:solidFill>
              </a:defRPr>
            </a:pPr>
            <a:r>
              <a:rPr sz="4050" b="1">
                <a:solidFill>
                  <a:srgbClr val="446B55"/>
                </a:solidFill>
              </a:rPr>
              <a:t>Comprar mejor.</a:t>
            </a:r>
          </a:p>
          <a:p xmlns:a="http://schemas.openxmlformats.org/drawingml/2006/main">
            <a:pPr algn="l">
              <a:defRPr sz="4050" b="1">
                <a:solidFill>
                  <a:srgbClr val="446B55"/>
                </a:solidFill>
              </a:defRPr>
            </a:pPr>
            <a:r>
              <a:rPr sz="4050" b="1">
                <a:solidFill>
                  <a:srgbClr val="446B55"/>
                </a:solidFill>
              </a:rPr>
              <a:t>Desperdiciar menos.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9B771-A137-4E76-B6FD-547F041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2B"/>
                </a:solidFill>
              </a:defRPr>
            </a:pPr>
            <a:r>
              <a:rPr sz="1800" b="0">
                <a:solidFill>
                  <a:srgbClr val="26332B"/>
                </a:solidFill>
              </a:rPr>
              <a:t>Inventario doméstico y cesta compartida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7F456-BF6D-48B4-BED0-85D78530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6B"/>
                </a:solidFill>
              </a:defRPr>
            </a:pPr>
            <a:r>
              <a:rPr sz="1200" b="0">
                <a:solidFill>
                  <a:srgbClr val="66736B"/>
                </a:solidFill>
              </a:rPr>
              <a:t>Juan García · Ingeniería de Sistemas Móviles · 2026</a:t>
            </a:r>
          </a:p>
        </p:txBody>
      </p:sp>
    </p:spTree>
    <p:extLst>
      <p:ext uri="{BB962C8B-B14F-4D97-AF65-F5344CB8AC3E}">
        <p14:creationId xmlns:p14="http://schemas.microsoft.com/office/powerpoint/2010/main" val="1313900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37412-F98C-4766-9890-E30766F2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345"/>
                </a:solidFill>
              </a:defRPr>
            </a:pPr>
            <a:r>
              <a:rPr sz="1050" b="1">
                <a:solidFill>
                  <a:srgbClr val="B86345"/>
                </a:solidFill>
              </a:rPr>
              <a:t>01 ·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6825E-BB4F-43D8-A450-F358781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6B55"/>
                </a:solidFill>
              </a:defRPr>
            </a:pPr>
            <a:r>
              <a:rPr sz="2700" b="1">
                <a:solidFill>
                  <a:srgbClr val="446B55"/>
                </a:solidFill>
              </a:rPr>
              <a:t>Un problema doméstico cotidiano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F20CD-DA75-4A4C-8BA8-5E436EF6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6345"/>
                </a:solidFill>
              </a:defRPr>
            </a:pPr>
            <a:r>
              <a:rPr sz="2100" b="1">
                <a:solidFill>
                  <a:srgbClr val="B86345"/>
                </a:solidFill>
              </a:rPr>
              <a:t>Compras duplicadas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04CB6-4CD1-43C0-B4D0-8C213535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6345"/>
                </a:solidFill>
              </a:defRPr>
            </a:pPr>
            <a:r>
              <a:rPr sz="2100" b="1">
                <a:solidFill>
                  <a:srgbClr val="B86345"/>
                </a:solidFill>
              </a:rPr>
              <a:t>Productos olvidados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64C6A-8A9D-4886-998B-22AC04A1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6345"/>
                </a:solidFill>
              </a:defRPr>
            </a:pPr>
            <a:r>
              <a:rPr sz="2100" b="1">
                <a:solidFill>
                  <a:srgbClr val="B86345"/>
                </a:solidFill>
              </a:rPr>
              <a:t>Listas desconectadas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7E1DF-9354-46A0-A8A2-90F24417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32B"/>
                </a:solidFill>
              </a:defRPr>
            </a:pPr>
            <a:r>
              <a:rPr sz="1650" b="0">
                <a:solidFill>
                  <a:srgbClr val="26332B"/>
                </a:solidFill>
              </a:rPr>
              <a:t>No sabemos qué hay realmente en casa.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E808A-9FB6-4E49-95DF-BA2E8949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32B"/>
                </a:solidFill>
              </a:defRPr>
            </a:pPr>
            <a:r>
              <a:rPr sz="1650" b="0">
                <a:solidFill>
                  <a:srgbClr val="26332B"/>
                </a:solidFill>
              </a:rPr>
              <a:t>Las caducidades no se ven a tiempo.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97F5C-1002-4B07-A26C-B822386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32B"/>
                </a:solidFill>
              </a:defRPr>
            </a:pPr>
            <a:r>
              <a:rPr sz="1650" b="0">
                <a:solidFill>
                  <a:srgbClr val="26332B"/>
                </a:solidFill>
              </a:rPr>
              <a:t>La compra no actualiza las existencias.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675B8-C058-4841-9610-F8D79CEB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10344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DE8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38386-0939-483F-BFE0-7BFB0BE4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46B55"/>
                </a:solidFill>
              </a:defRPr>
            </a:pPr>
            <a:r>
              <a:rPr sz="2250" b="1">
                <a:solidFill>
                  <a:srgbClr val="446B55"/>
                </a:solidFill>
              </a:rPr>
              <a:t>Despensa conecta existencias, caducidad y compra en un único flujo compartido.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95601-F700-4CCA-A641-E28C93B4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DESPENSA · PROYECTO FINAL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6E9A6-D389-4EA5-AAF7-2EDCB0F5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27124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A559A-986D-4739-8E3B-1E3B085A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345"/>
                </a:solidFill>
              </a:defRPr>
            </a:pPr>
            <a:r>
              <a:rPr sz="1050" b="1">
                <a:solidFill>
                  <a:srgbClr val="B86345"/>
                </a:solidFill>
              </a:rPr>
              <a:t>02 ·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14A02-3E87-4C03-B262-311F51E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6B55"/>
                </a:solidFill>
              </a:defRPr>
            </a:pPr>
            <a:r>
              <a:rPr sz="2700" b="1">
                <a:solidFill>
                  <a:srgbClr val="446B55"/>
                </a:solidFill>
              </a:rPr>
              <a:t>El ciclo completo en cuatro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0449F-9565-4D34-83B0-5FA640AC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608B3-650C-4F45-B440-F9E2F8C2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6345"/>
                </a:solidFill>
              </a:defRPr>
            </a:pPr>
            <a:r>
              <a:rPr sz="2700" b="1">
                <a:solidFill>
                  <a:srgbClr val="B86345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EB870-6C65-4462-858F-16D80F91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46B55"/>
                </a:solidFill>
              </a:defRPr>
            </a:pPr>
            <a:r>
              <a:rPr sz="2100" b="1">
                <a:solidFill>
                  <a:srgbClr val="446B55"/>
                </a:solidFill>
              </a:rPr>
              <a:t>Registrar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6E5E6-7EC1-4D5C-9F09-E6CC8A07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32B"/>
                </a:solidFill>
              </a:defRPr>
            </a:pPr>
            <a:r>
              <a:rPr sz="1425" b="0">
                <a:solidFill>
                  <a:srgbClr val="26332B"/>
                </a:solidFill>
              </a:rPr>
              <a:t>Productos, cantidades y fechas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A0EE5-302E-4DF9-ABF2-DCF43D0F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B1FF8-0DA3-4C4E-8BE4-C7E26F3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43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6345"/>
                </a:solidFill>
              </a:defRPr>
            </a:pPr>
            <a:r>
              <a:rPr sz="2700" b="1">
                <a:solidFill>
                  <a:srgbClr val="B8634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EB909-EB2F-40FD-B62F-1A97C16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46B55"/>
                </a:solidFill>
              </a:defRPr>
            </a:pPr>
            <a:r>
              <a:rPr sz="2100" b="1">
                <a:solidFill>
                  <a:srgbClr val="446B55"/>
                </a:solidFill>
              </a:rPr>
              <a:t>Detectar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AB767-F84F-46CB-86CE-CDE34BEC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052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32B"/>
                </a:solidFill>
              </a:defRPr>
            </a:pPr>
            <a:r>
              <a:rPr sz="1425" b="0">
                <a:solidFill>
                  <a:srgbClr val="26332B"/>
                </a:solidFill>
              </a:rPr>
              <a:t>Agotados y próximos a caducar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CC1E3-928D-4CA1-B634-8BFBD08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7A33F-32CD-489B-9CC9-0C0E5ECC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6345"/>
                </a:solidFill>
              </a:defRPr>
            </a:pPr>
            <a:r>
              <a:rPr sz="2700" b="1">
                <a:solidFill>
                  <a:srgbClr val="B86345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27A5E-818A-4C55-B612-02F800F7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46B55"/>
                </a:solidFill>
              </a:defRPr>
            </a:pPr>
            <a:r>
              <a:rPr sz="2100" b="1">
                <a:solidFill>
                  <a:srgbClr val="446B55"/>
                </a:solidFill>
              </a:rPr>
              <a:t>Comprar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DD44A-816B-419F-AE40-8250C622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32B"/>
                </a:solidFill>
              </a:defRPr>
            </a:pPr>
            <a:r>
              <a:rPr sz="1425" b="0">
                <a:solidFill>
                  <a:srgbClr val="26332B"/>
                </a:solidFill>
              </a:rPr>
              <a:t>Cesta compartida en tiempo real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0FCF0-1231-4084-83E0-62219BAA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52625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446B5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6C264-CACB-4E0C-88C1-D5A3F547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43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0C0FF-2AA2-442C-8CA6-FDC45C7B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146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Reponer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84BE6-D134-4248-8683-894CB19A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052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Actualizar inventario sin duplicados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18449-EE81-4D21-817C-069D5162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DESPENSA · PROYECTO FINAL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0DB88-1CF2-4242-AA28-9007F46B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1566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54627-C3C3-43F7-B702-F3CB7D51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345"/>
                </a:solidFill>
              </a:defRPr>
            </a:pPr>
            <a:r>
              <a:rPr sz="1050" b="1">
                <a:solidFill>
                  <a:srgbClr val="B86345"/>
                </a:solidFill>
              </a:rPr>
              <a:t>03 · PRODUCTO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4A26D-6187-4457-BBCC-BC738B2A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6B55"/>
                </a:solidFill>
              </a:defRPr>
            </a:pPr>
            <a:r>
              <a:rPr sz="2700" b="1">
                <a:solidFill>
                  <a:srgbClr val="446B55"/>
                </a:solidFill>
              </a:rPr>
              <a:t>Un MVP colaborativo y demostrable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bcfb9265d47d7"/>
          <a:stretch xmlns:a="http://schemas.openxmlformats.org/drawingml/2006/main"/>
        </p:blipFill>
        <p:spPr>
          <a:xfrm xmlns:a="http://schemas.openxmlformats.org/drawingml/2006/main">
            <a:off x="6000750" y="2296418"/>
            <a:ext cx="5429250" cy="2703314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F253E-DC32-4E36-84B2-19E6DC7D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6B5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05872-28A4-4296-B218-FA36982B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32B"/>
                </a:solidFill>
              </a:defRPr>
            </a:pPr>
            <a:r>
              <a:rPr sz="1650" b="0">
                <a:solidFill>
                  <a:srgbClr val="26332B"/>
                </a:solidFill>
              </a:rPr>
              <a:t>Autenticación y hogares con 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11950-A669-4C04-848D-D3543812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6B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2ABA8-53BC-4EFD-BD52-42763438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32B"/>
                </a:solidFill>
              </a:defRPr>
            </a:pPr>
            <a:r>
              <a:rPr sz="1650" b="0">
                <a:solidFill>
                  <a:srgbClr val="26332B"/>
                </a:solidFill>
              </a:rPr>
              <a:t>Inventario con búsqueda, filtros y caducidad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C738D-22E3-4369-8788-75F395CA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6B5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64954-323F-41C0-9EC9-A3A4F1A3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32B"/>
                </a:solidFill>
              </a:defRPr>
            </a:pPr>
            <a:r>
              <a:rPr sz="1650" b="0">
                <a:solidFill>
                  <a:srgbClr val="26332B"/>
                </a:solidFill>
              </a:rPr>
              <a:t>Cesta compartida y compra atómica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3B025-B703-4838-AA96-A1F1DFB4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6B5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DAFFA-A47A-4041-8CA8-D43D72F6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32B"/>
                </a:solidFill>
              </a:defRPr>
            </a:pPr>
            <a:r>
              <a:rPr sz="1650" b="0">
                <a:solidFill>
                  <a:srgbClr val="26332B"/>
                </a:solidFill>
              </a:rPr>
              <a:t>Invitaciones, miembros y actividad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8EC0D-926B-43EB-9FF9-BC1F4E6B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34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893DC-8414-4284-B78B-2E9B48D4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32B"/>
                </a:solidFill>
              </a:defRPr>
            </a:pPr>
            <a:r>
              <a:rPr sz="1650" b="0">
                <a:solidFill>
                  <a:srgbClr val="26332B"/>
                </a:solidFill>
              </a:rPr>
              <a:t>Modo Firebase y modo 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C7548-442E-478D-982A-CF473C3A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DESPENSA · PROYECTO FINAL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CE1B5-859B-45BE-A6FB-CEB19483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9663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34EA6-62A7-4457-A2FA-0E6B43DE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345"/>
                </a:solidFill>
              </a:defRPr>
            </a:pPr>
            <a:r>
              <a:rPr sz="1050" b="1">
                <a:solidFill>
                  <a:srgbClr val="B86345"/>
                </a:solidFill>
              </a:rPr>
              <a:t>04 ·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F2B20-DCF3-4457-AA3D-97F6EACC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6B55"/>
                </a:solidFill>
              </a:defRPr>
            </a:pPr>
            <a:r>
              <a:rPr sz="2700" b="1">
                <a:solidFill>
                  <a:srgbClr val="446B55"/>
                </a:solidFill>
              </a:rPr>
              <a:t>Arquitectura simple, separada por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C52E8-8339-4561-AEEF-730097F6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94631-D5D7-4DD3-92DB-8DEA7FB0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6345"/>
                </a:solidFill>
              </a:defRPr>
            </a:pPr>
            <a:r>
              <a:rPr sz="1425" b="1">
                <a:solidFill>
                  <a:srgbClr val="B86345"/>
                </a:solidFill>
              </a:rPr>
              <a:t>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CA1A2-5BE1-4D6B-91E7-0528E16E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32B"/>
                </a:solidFill>
              </a:defRPr>
            </a:pPr>
            <a:r>
              <a:rPr sz="1500" b="0">
                <a:solidFill>
                  <a:srgbClr val="26332B"/>
                </a:solidFill>
              </a:rPr>
              <a:t>Pantallas Material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8A0F7-4656-44E2-B8D7-59718875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46B55"/>
                </a:solidFill>
              </a:defRPr>
            </a:pPr>
            <a:r>
              <a:rPr sz="2250" b="1">
                <a:solidFill>
                  <a:srgbClr val="446B5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3C2B1-158D-451F-A8CE-5199107A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860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B5F1D-12D3-46E6-8A7A-D46C159D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6345"/>
                </a:solidFill>
              </a:defRPr>
            </a:pPr>
            <a:r>
              <a:rPr sz="1425" b="1">
                <a:solidFill>
                  <a:srgbClr val="B86345"/>
                </a:solidFill>
              </a:rPr>
              <a:t>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6ED07-C46D-4C51-9422-05BAAFBD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32B"/>
                </a:solidFill>
              </a:defRPr>
            </a:pPr>
            <a:r>
              <a:rPr sz="1500" b="0">
                <a:solidFill>
                  <a:srgbClr val="26332B"/>
                </a:solidFill>
              </a:rPr>
              <a:t>Entidades del negocio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C543E-D04C-4904-ACF3-A5BAE8FE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46B55"/>
                </a:solidFill>
              </a:defRPr>
            </a:pPr>
            <a:r>
              <a:rPr sz="2250" b="1">
                <a:solidFill>
                  <a:srgbClr val="446B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343AD-F9F3-464E-B8CC-8F6E72C7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A5E16-22F3-4EC3-BCFB-61AEBED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6345"/>
                </a:solidFill>
              </a:defRPr>
            </a:pPr>
            <a:r>
              <a:rPr sz="1425" b="1">
                <a:solidFill>
                  <a:srgbClr val="B86345"/>
                </a:solidFill>
              </a:rPr>
              <a:t>DATA /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6F98F-0AAA-4F09-8E81-0E970D7C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95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32B"/>
                </a:solidFill>
              </a:defRPr>
            </a:pPr>
            <a:r>
              <a:rPr sz="1500" b="0">
                <a:solidFill>
                  <a:srgbClr val="26332B"/>
                </a:solidFill>
              </a:rPr>
              <a:t>Servicios y persistencia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02B18-D89F-41B0-964F-4F8D6E04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46B55"/>
                </a:solidFill>
              </a:defRPr>
            </a:pPr>
            <a:r>
              <a:rPr sz="2250" b="1">
                <a:solidFill>
                  <a:srgbClr val="446B5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0E90A-D4A0-4448-89A2-9229C274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446B5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46C5B-0CD2-49A3-8EE1-7EE664F6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FIREBASE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E4F35-841A-4C30-9240-991EF646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9562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Auth + Firestore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BDD0F-8067-4078-9B94-B172B6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46B55"/>
                </a:solidFill>
              </a:defRPr>
            </a:pPr>
            <a:r>
              <a:rPr sz="1800" b="1">
                <a:solidFill>
                  <a:srgbClr val="446B55"/>
                </a:solidFill>
              </a:rPr>
              <a:t>Flutter · Firebase Authentication · Cloud Firestore · SharedPreferences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178C8-CE14-42DC-B668-063DBC25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DESPENSA · PROYECTO FINAL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81008-6BB4-439E-8A05-3372D597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1148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5979A-C846-4DEF-9A52-25AAD0F3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345"/>
                </a:solidFill>
              </a:defRPr>
            </a:pPr>
            <a:r>
              <a:rPr sz="1050" b="1">
                <a:solidFill>
                  <a:srgbClr val="B86345"/>
                </a:solidFill>
              </a:rPr>
              <a:t>05 · PROCESO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1044F-0952-41A9-8756-00D5A382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6B55"/>
                </a:solidFill>
              </a:defRPr>
            </a:pPr>
            <a:r>
              <a:rPr sz="2700" b="1">
                <a:solidFill>
                  <a:srgbClr val="446B55"/>
                </a:solidFill>
              </a:rPr>
              <a:t>Cuatro sprints, un incremento verificable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0750f4c404aa9"/>
          <a:srcRect xmlns:a="http://schemas.openxmlformats.org/drawingml/2006/main" l="10100" t="0" r="10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14500"/>
            <a:ext cx="5048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f095f8e3e4a13"/>
          <a:srcRect xmlns:a="http://schemas.openxmlformats.org/drawingml/2006/main" l="10016" t="0" r="100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1714500"/>
            <a:ext cx="5048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95EAF-7FD3-43F5-8FFF-3AF1478C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46B55"/>
                </a:solidFill>
              </a:defRPr>
            </a:pPr>
            <a:r>
              <a:rPr sz="2025" b="1">
                <a:solidFill>
                  <a:srgbClr val="446B55"/>
                </a:solidFill>
              </a:rPr>
              <a:t>ANÁLISIS → BASE TÉCNICA → COLABORACIÓN → CALIDAD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1AF0E-8E8C-4A90-8C35-4721F79D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B"/>
                </a:solidFill>
              </a:defRPr>
            </a:pPr>
            <a:r>
              <a:rPr sz="1275" b="0">
                <a:solidFill>
                  <a:srgbClr val="66736B"/>
                </a:solidFill>
              </a:rPr>
              <a:t>45 issues · requisitos, código, pruebas y evidencias trazables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13488-93D9-49CE-8E7F-31D84178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DESPENSA · PROYECTO FINAL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55B57-5B69-42D2-AA43-8D95BB1F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04317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26D78-729A-49C9-BE42-1330A926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345"/>
                </a:solidFill>
              </a:defRPr>
            </a:pPr>
            <a:r>
              <a:rPr sz="1050" b="1">
                <a:solidFill>
                  <a:srgbClr val="B86345"/>
                </a:solidFill>
              </a:rPr>
              <a:t>06 · 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0AFC1-D93F-4BD2-ACD1-5F9AC69D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6B55"/>
                </a:solidFill>
              </a:defRPr>
            </a:pPr>
            <a:r>
              <a:rPr sz="2700" b="1">
                <a:solidFill>
                  <a:srgbClr val="446B55"/>
                </a:solidFill>
              </a:rPr>
              <a:t>La versión final supera la cadena de 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AC7E1-C6E9-4B46-9DC2-CD6E0170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46B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80735-F07F-4D2C-BCEF-CBA01AF9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25/25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3153C-B047-4B6E-A8E7-C8D6EC74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pruebas Flutter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614B9-040B-42CE-9111-75BC620F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C6D99-0B18-4C14-AC03-6CC52929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383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86345"/>
                </a:solidFill>
              </a:defRPr>
            </a:pPr>
            <a:r>
              <a:rPr sz="3300" b="1">
                <a:solidFill>
                  <a:srgbClr val="B86345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F01AD-6DCC-4311-A45C-E05E3859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95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32B"/>
                </a:solidFill>
              </a:defRPr>
            </a:pPr>
            <a:r>
              <a:rPr sz="1425" b="0">
                <a:solidFill>
                  <a:srgbClr val="26332B"/>
                </a:solidFill>
              </a:rPr>
              <a:t>incidencias de análisis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3C610-14AC-43EE-B84A-D70984B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C22ED-4701-4DF6-9FD5-AE1E6C6E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86345"/>
                </a:solidFill>
              </a:defRPr>
            </a:pPr>
            <a:r>
              <a:rPr sz="3300" b="1">
                <a:solidFill>
                  <a:srgbClr val="B86345"/>
                </a:solidFill>
              </a:rPr>
              <a:t>55,2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BD787-12A5-4CCB-8778-BF88B53A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95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32B"/>
                </a:solidFill>
              </a:defRPr>
            </a:pPr>
            <a:r>
              <a:rPr sz="1425" b="0">
                <a:solidFill>
                  <a:srgbClr val="26332B"/>
                </a:solidFill>
              </a:rPr>
              <a:t>APK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0E5CA-056C-4A0C-BBF2-2E87DC2F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52625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4F26B-1C74-47A3-A2FE-7D1845BF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86345"/>
                </a:solidFill>
              </a:defRPr>
            </a:pPr>
            <a:r>
              <a:rPr sz="3300" b="1">
                <a:solidFill>
                  <a:srgbClr val="B86345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5D21B-E2FA-4E94-B96F-247D9D24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95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32B"/>
                </a:solidFill>
              </a:defRPr>
            </a:pPr>
            <a:r>
              <a:rPr sz="1425" b="0">
                <a:solidFill>
                  <a:srgbClr val="26332B"/>
                </a:solidFill>
              </a:rPr>
              <a:t>milestones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7DB85-2ADD-45DB-A592-2257E6FD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8763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E8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6073B-E179-4347-89FE-A3D98FF2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863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46B55"/>
                </a:solidFill>
              </a:defRPr>
            </a:pPr>
            <a:r>
              <a:rPr sz="1725" b="1">
                <a:solidFill>
                  <a:srgbClr val="446B55"/>
                </a:solidFill>
              </a:rPr>
              <a:t>Permisos por hogar · operaciones confirmadas · estados vacíos · sincronización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3C358-48C2-4323-BB11-5CA549B1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DESPENSA · PROYECTO FINAL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EBEC7-9211-4F5E-8E28-38A44902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72140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A7CDA-B10A-4FFF-B5F6-3F09CC9C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345"/>
                </a:solidFill>
              </a:defRPr>
            </a:pPr>
            <a:r>
              <a:rPr sz="1050" b="1">
                <a:solidFill>
                  <a:srgbClr val="B86345"/>
                </a:solidFill>
              </a:rPr>
              <a:t>07 · RECORRIDO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8BA7B-3E62-4920-8359-047BB7E5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6B55"/>
                </a:solidFill>
              </a:defRPr>
            </a:pPr>
            <a:r>
              <a:rPr sz="2700" b="1">
                <a:solidFill>
                  <a:srgbClr val="446B55"/>
                </a:solidFill>
              </a:rPr>
              <a:t>Demostración: del producto agotado a la despensa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28F26-5DDA-461A-BDBE-E72B4206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992BF-3B58-451A-8631-9FC00D24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32B"/>
                </a:solidFill>
              </a:defRPr>
            </a:pPr>
            <a:r>
              <a:rPr sz="1725" b="0">
                <a:solidFill>
                  <a:srgbClr val="26332B"/>
                </a:solidFill>
              </a:rPr>
              <a:t>1. Entrar y seleccionar hogar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3E96C-0163-4C30-B919-52DFB87F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B9F6E-E817-4456-8213-BCD50584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32B"/>
                </a:solidFill>
              </a:defRPr>
            </a:pPr>
            <a:r>
              <a:rPr sz="1725" b="0">
                <a:solidFill>
                  <a:srgbClr val="26332B"/>
                </a:solidFill>
              </a:rPr>
              <a:t>2. Localizar un producto agotado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1C2FF-7D77-4942-8C46-E1FD844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7660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EA28D-13A9-4EA9-9DF8-32C63B43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32B"/>
                </a:solidFill>
              </a:defRPr>
            </a:pPr>
            <a:r>
              <a:rPr sz="1725" b="0">
                <a:solidFill>
                  <a:srgbClr val="26332B"/>
                </a:solidFill>
              </a:rPr>
              <a:t>3. Añadirlo a la cesta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062DE-EC78-4320-A7F0-1D8568D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F1180-797D-44C7-A251-DB94D178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32B"/>
                </a:solidFill>
              </a:defRPr>
            </a:pPr>
            <a:r>
              <a:rPr sz="1725" b="0">
                <a:solidFill>
                  <a:srgbClr val="26332B"/>
                </a:solidFill>
              </a:rPr>
              <a:t>4. Marcarlo como comprado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61B7B-CABD-4354-91C8-3FB618B2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3870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46B5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20A2B-AB9C-45B5-A253-012AD585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5. Guardar la compra en inventario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DEE52-290F-4FD3-A8B1-4921C6BF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DESPENSA · PROYECTO FINAL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E4B67-180F-410B-912F-1088425C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B"/>
                </a:solidFill>
              </a:defRPr>
            </a:pPr>
            <a:r>
              <a:rPr sz="825" b="1">
                <a:solidFill>
                  <a:srgbClr val="66736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18191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446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C8097-9A74-4C8B-9C3F-360A67BB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8DC"/>
                </a:solidFill>
              </a:defRPr>
            </a:pPr>
            <a:r>
              <a:rPr sz="1125" b="1">
                <a:solidFill>
                  <a:srgbClr val="DDE8DC"/>
                </a:solidFill>
              </a:rPr>
              <a:t>DESPENSA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CC4F7-496F-4301-A85F-819838D8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Una base sólida para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comprar con criterio.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4681D-3A52-44A1-9410-AC828BB3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8DC"/>
                </a:solidFill>
              </a:defRPr>
            </a:pPr>
            <a:r>
              <a:rPr sz="1350" b="1">
                <a:solidFill>
                  <a:srgbClr val="DDE8DC"/>
                </a:solidFill>
              </a:rPr>
              <a:t>Siguiente paso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3DC6C-C8A8-41CB-9EB6-C43542AC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Notificaciones push · código de barras · modo offline avanzado · 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EDD09-DB34-40ED-8E20-29E41F3F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DE8DC"/>
                </a:solidFill>
              </a:defRPr>
            </a:pPr>
            <a:r>
              <a:rPr sz="1800" b="1">
                <a:solidFill>
                  <a:srgbClr val="DDE8DC"/>
                </a:solidFill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209151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2026-08-28T14:42:36.9020000Z</dcterms:created>
  <dcterms:modified xsi:type="dcterms:W3CDTF">2026-08-28T14:42:36.9020000Z</dcterms:modified>
</coreProperties>
</file>